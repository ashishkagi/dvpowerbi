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ricolage Grotesque Extra Bold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282D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67" y="406718"/>
            <a:ext cx="4943951" cy="74160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20956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Interactive Dashboards for Student Placement Storytelling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67606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Ashish Kalaskar(202501110176) &amp; Aryan Bhosale(202501110179)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VISUALISATION Lab Project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6570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A23 BATCH AL2 DIVISION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282D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81" y="404217"/>
            <a:ext cx="4947285" cy="7421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7807" y="620673"/>
            <a:ext cx="7581186" cy="139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Project Overview and Objectives</a:t>
            </a:r>
            <a:endParaRPr lang="en-US" sz="4350" dirty="0"/>
          </a:p>
        </p:txBody>
      </p:sp>
      <p:sp>
        <p:nvSpPr>
          <p:cNvPr id="5" name="Shape 2"/>
          <p:cNvSpPr/>
          <p:nvPr/>
        </p:nvSpPr>
        <p:spPr>
          <a:xfrm>
            <a:off x="6267807" y="2345769"/>
            <a:ext cx="3680698" cy="3053120"/>
          </a:xfrm>
          <a:prstGeom prst="roundRect">
            <a:avLst>
              <a:gd name="adj" fmla="val 3072"/>
            </a:avLst>
          </a:prstGeom>
          <a:solidFill>
            <a:srgbClr val="282D5E"/>
          </a:solidFill>
          <a:ln/>
        </p:spPr>
      </p:sp>
      <p:sp>
        <p:nvSpPr>
          <p:cNvPr id="6" name="Text 3"/>
          <p:cNvSpPr/>
          <p:nvPr/>
        </p:nvSpPr>
        <p:spPr>
          <a:xfrm>
            <a:off x="6491049" y="256901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Problem Statement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491049" y="3049667"/>
            <a:ext cx="3234214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placement data analysis is static, fragmented, and lacks the depth needed for actionable, strategic insights.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68295" y="2345769"/>
            <a:ext cx="3680698" cy="3053120"/>
          </a:xfrm>
          <a:prstGeom prst="roundRect">
            <a:avLst>
              <a:gd name="adj" fmla="val 3072"/>
            </a:avLst>
          </a:prstGeom>
          <a:solidFill>
            <a:srgbClr val="282D5E"/>
          </a:solidFill>
          <a:ln/>
        </p:spPr>
      </p:sp>
      <p:sp>
        <p:nvSpPr>
          <p:cNvPr id="9" name="Text 6"/>
          <p:cNvSpPr/>
          <p:nvPr/>
        </p:nvSpPr>
        <p:spPr>
          <a:xfrm>
            <a:off x="10391537" y="256901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Project Goal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0391537" y="3049667"/>
            <a:ext cx="3234214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an interactive Power BI dashboard to visualise placement trends, identify high-potential candidates, and track programme performance.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67807" y="5618678"/>
            <a:ext cx="7581186" cy="1990130"/>
          </a:xfrm>
          <a:prstGeom prst="roundRect">
            <a:avLst>
              <a:gd name="adj" fmla="val 4712"/>
            </a:avLst>
          </a:prstGeom>
          <a:solidFill>
            <a:srgbClr val="282D5E"/>
          </a:solidFill>
          <a:ln/>
        </p:spPr>
      </p:sp>
      <p:sp>
        <p:nvSpPr>
          <p:cNvPr id="12" name="Text 9"/>
          <p:cNvSpPr/>
          <p:nvPr/>
        </p:nvSpPr>
        <p:spPr>
          <a:xfrm>
            <a:off x="6491049" y="584192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Features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6491049" y="6322576"/>
            <a:ext cx="713470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placement statistics, student performance analysis, and data-driven insights to support strategic academic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10029111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Modelling: The Star Schema Foundation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2665571"/>
            <a:ext cx="30044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Fact Table: 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Placement_Fact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107174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Contains transactional records — Student ID, Application ID, Interview Status, Offer Status, and Salary.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377070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Why Star Schema?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543205" y="4197072"/>
            <a:ext cx="6015395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Optimised for OLAP and business intelligence workloads. Simplifies DAX queries and significantly improves analytical performance for large datasets.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543205" y="5138380"/>
            <a:ext cx="6015395" cy="1188363"/>
          </a:xfrm>
          <a:prstGeom prst="roundRect">
            <a:avLst>
              <a:gd name="adj" fmla="val 6388"/>
            </a:avLst>
          </a:prstGeom>
          <a:solidFill>
            <a:srgbClr val="022349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942" y="5396508"/>
            <a:ext cx="225862" cy="1807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30540" y="5327452"/>
            <a:ext cx="5247323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dimension table surrounds the fact table, enabling fast, intuitive slicing and filtering across all placement metrics.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69012"/>
            <a:ext cx="8660725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Feature Engineering: Skill Scores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83177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Objective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44260" y="2363391"/>
            <a:ext cx="631162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Quantify student employability through a composite, weighted skill metric derived from individual profiles and résumés.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4260" y="3551396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Methodology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582138" y="1831777"/>
            <a:ext cx="3401616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Composite Score Formula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582138" y="2416373"/>
            <a:ext cx="6311622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1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2138" y="2416373"/>
            <a:ext cx="6311622" cy="82629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2138" y="3494961"/>
            <a:ext cx="6311622" cy="1856303"/>
          </a:xfrm>
          <a:prstGeom prst="roundRect">
            <a:avLst>
              <a:gd name="adj" fmla="val 4811"/>
            </a:avLst>
          </a:prstGeom>
          <a:solidFill>
            <a:srgbClr val="183A1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84" y="3810833"/>
            <a:ext cx="265748" cy="21264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73177" y="3747373"/>
            <a:ext cx="5407938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Skill Scores directly feed the </a:t>
            </a:r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Performers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DAX measure, enabling objective, bias-free candidate ranking across all programmes.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44260" y="5799653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44260" y="6138148"/>
            <a:ext cx="4247674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4" name="Text 10"/>
          <p:cNvSpPr/>
          <p:nvPr/>
        </p:nvSpPr>
        <p:spPr>
          <a:xfrm>
            <a:off x="744260" y="6290191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Skill Extraction</a:t>
            </a:r>
            <a:endParaRPr lang="en-US" sz="2050" dirty="0"/>
          </a:p>
        </p:txBody>
      </p:sp>
      <p:sp>
        <p:nvSpPr>
          <p:cNvPr id="15" name="Text 11"/>
          <p:cNvSpPr/>
          <p:nvPr/>
        </p:nvSpPr>
        <p:spPr>
          <a:xfrm>
            <a:off x="744260" y="6742033"/>
            <a:ext cx="42476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key skills from student profiles and résumés.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5191244" y="5799653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5191244" y="6138148"/>
            <a:ext cx="4247793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8" name="Text 14"/>
          <p:cNvSpPr/>
          <p:nvPr/>
        </p:nvSpPr>
        <p:spPr>
          <a:xfrm>
            <a:off x="5191244" y="6290191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Skill Weighting</a:t>
            </a:r>
            <a:endParaRPr lang="en-US" sz="2050" dirty="0"/>
          </a:p>
        </p:txBody>
      </p:sp>
      <p:sp>
        <p:nvSpPr>
          <p:cNvPr id="19" name="Text 15"/>
          <p:cNvSpPr/>
          <p:nvPr/>
        </p:nvSpPr>
        <p:spPr>
          <a:xfrm>
            <a:off x="5191244" y="6742033"/>
            <a:ext cx="4247793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 weights based on industry demand and programme relevance.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9638348" y="5799653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9638348" y="6138148"/>
            <a:ext cx="4247793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2" name="Text 18"/>
          <p:cNvSpPr/>
          <p:nvPr/>
        </p:nvSpPr>
        <p:spPr>
          <a:xfrm>
            <a:off x="9638348" y="6290191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Score Aggregation</a:t>
            </a:r>
            <a:endParaRPr lang="en-US" sz="2050" dirty="0"/>
          </a:p>
        </p:txBody>
      </p:sp>
      <p:sp>
        <p:nvSpPr>
          <p:cNvPr id="23" name="Text 19"/>
          <p:cNvSpPr/>
          <p:nvPr/>
        </p:nvSpPr>
        <p:spPr>
          <a:xfrm>
            <a:off x="9638348" y="6742033"/>
            <a:ext cx="4247793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composite Skill Score per student.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48045"/>
            <a:ext cx="11007566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DAX Measures: Quantifying Placement Success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34628" y="1523762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Placement Rate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34628" y="1992154"/>
            <a:ext cx="6251377" cy="2572941"/>
          </a:xfrm>
          <a:prstGeom prst="roundRect">
            <a:avLst>
              <a:gd name="adj" fmla="val 3066"/>
            </a:avLst>
          </a:prstGeom>
          <a:solidFill>
            <a:srgbClr val="161B4C"/>
          </a:solidFill>
          <a:ln/>
        </p:spPr>
      </p:sp>
      <p:sp>
        <p:nvSpPr>
          <p:cNvPr id="5" name="Shape 3"/>
          <p:cNvSpPr/>
          <p:nvPr/>
        </p:nvSpPr>
        <p:spPr>
          <a:xfrm>
            <a:off x="825341" y="1992154"/>
            <a:ext cx="6269950" cy="2572941"/>
          </a:xfrm>
          <a:prstGeom prst="roundRect">
            <a:avLst>
              <a:gd name="adj" fmla="val 1095"/>
            </a:avLst>
          </a:prstGeom>
          <a:solidFill>
            <a:srgbClr val="161B4C"/>
          </a:solidFill>
          <a:ln/>
        </p:spPr>
      </p:sp>
      <p:sp>
        <p:nvSpPr>
          <p:cNvPr id="6" name="Text 4"/>
          <p:cNvSpPr/>
          <p:nvPr/>
        </p:nvSpPr>
        <p:spPr>
          <a:xfrm>
            <a:off x="1060133" y="2179915"/>
            <a:ext cx="5800368" cy="219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7EE787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Placement Rate =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7EE787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DIVIDE(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7EE787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COUNTROWS(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7EE787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FILTER('Placement_Fact',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7EE787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'Placement_Fact'[Offer_Status]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7EE787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"Placed")),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7EE787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COUNTROWS('Placement_Fact')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7EE787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34628" y="473999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High Performers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4628" y="5208389"/>
            <a:ext cx="6251377" cy="2298263"/>
          </a:xfrm>
          <a:prstGeom prst="roundRect">
            <a:avLst>
              <a:gd name="adj" fmla="val 3433"/>
            </a:avLst>
          </a:prstGeom>
          <a:solidFill>
            <a:srgbClr val="161B4C"/>
          </a:solidFill>
          <a:ln/>
        </p:spPr>
      </p:sp>
      <p:sp>
        <p:nvSpPr>
          <p:cNvPr id="9" name="Shape 7"/>
          <p:cNvSpPr/>
          <p:nvPr/>
        </p:nvSpPr>
        <p:spPr>
          <a:xfrm>
            <a:off x="825341" y="5208389"/>
            <a:ext cx="6269950" cy="2298263"/>
          </a:xfrm>
          <a:prstGeom prst="roundRect">
            <a:avLst>
              <a:gd name="adj" fmla="val 1226"/>
            </a:avLst>
          </a:prstGeom>
          <a:solidFill>
            <a:srgbClr val="161B4C"/>
          </a:solidFill>
          <a:ln/>
        </p:spPr>
      </p:sp>
      <p:sp>
        <p:nvSpPr>
          <p:cNvPr id="10" name="Text 8"/>
          <p:cNvSpPr/>
          <p:nvPr/>
        </p:nvSpPr>
        <p:spPr>
          <a:xfrm>
            <a:off x="1060133" y="5396151"/>
            <a:ext cx="5800368" cy="1922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Performers =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COUNTROWS('Dim_Student'),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FILTER(Dim_Student,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Dim_Student[Skill_Score]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&gt; [Average_Skill_Score])</a:t>
            </a:r>
            <a:endParaRPr lang="en-US" sz="145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51777" y="1523762"/>
            <a:ext cx="339875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What These Measures Reveal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51777" y="1992154"/>
            <a:ext cx="6251377" cy="1419582"/>
          </a:xfrm>
          <a:prstGeom prst="roundRect">
            <a:avLst>
              <a:gd name="adj" fmla="val 7730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28917" y="1992154"/>
            <a:ext cx="91440" cy="1419582"/>
          </a:xfrm>
          <a:prstGeom prst="roundRect">
            <a:avLst>
              <a:gd name="adj" fmla="val 86279"/>
            </a:avLst>
          </a:prstGeom>
          <a:solidFill>
            <a:srgbClr val="EEAEF6"/>
          </a:solidFill>
          <a:ln/>
        </p:spPr>
      </p:sp>
      <p:sp>
        <p:nvSpPr>
          <p:cNvPr id="14" name="Text 12"/>
          <p:cNvSpPr/>
          <p:nvPr/>
        </p:nvSpPr>
        <p:spPr>
          <a:xfrm>
            <a:off x="7830979" y="220277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Placement Rate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30979" y="2651760"/>
            <a:ext cx="576155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Percentage of students who received a confirmed offer — the primary KPI for placement health.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551777" y="3567232"/>
            <a:ext cx="6251377" cy="1419582"/>
          </a:xfrm>
          <a:prstGeom prst="roundRect">
            <a:avLst>
              <a:gd name="adj" fmla="val 7730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28917" y="3567232"/>
            <a:ext cx="91440" cy="1419582"/>
          </a:xfrm>
          <a:prstGeom prst="roundRect">
            <a:avLst>
              <a:gd name="adj" fmla="val 86279"/>
            </a:avLst>
          </a:prstGeom>
          <a:solidFill>
            <a:srgbClr val="EEAEF6"/>
          </a:solidFill>
          <a:ln/>
        </p:spPr>
      </p:sp>
      <p:sp>
        <p:nvSpPr>
          <p:cNvPr id="18" name="Text 16"/>
          <p:cNvSpPr/>
          <p:nvPr/>
        </p:nvSpPr>
        <p:spPr>
          <a:xfrm>
            <a:off x="7830979" y="377785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High Performers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30979" y="4226838"/>
            <a:ext cx="576155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 of students whose Skill Score exceeds the cohort average — flags top candidates for recruiters.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551777" y="5142309"/>
            <a:ext cx="6251377" cy="1419582"/>
          </a:xfrm>
          <a:prstGeom prst="roundRect">
            <a:avLst>
              <a:gd name="adj" fmla="val 7730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28917" y="5142309"/>
            <a:ext cx="91440" cy="1419582"/>
          </a:xfrm>
          <a:prstGeom prst="roundRect">
            <a:avLst>
              <a:gd name="adj" fmla="val 86279"/>
            </a:avLst>
          </a:prstGeom>
          <a:solidFill>
            <a:srgbClr val="EEAEF6"/>
          </a:solidFill>
          <a:ln/>
        </p:spPr>
      </p:sp>
      <p:sp>
        <p:nvSpPr>
          <p:cNvPr id="22" name="Text 20"/>
          <p:cNvSpPr/>
          <p:nvPr/>
        </p:nvSpPr>
        <p:spPr>
          <a:xfrm>
            <a:off x="7830979" y="5352931"/>
            <a:ext cx="240327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Additional Measures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30979" y="5801916"/>
            <a:ext cx="576155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Salary, Interview Conversion Rate, Programme Placement Success.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282D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354330"/>
            <a:ext cx="5013960" cy="7520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9800" y="706874"/>
            <a:ext cx="7783116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Interactive Dashboard Design in Power BI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019800" y="1336715"/>
            <a:ext cx="8077200" cy="1367790"/>
          </a:xfrm>
          <a:prstGeom prst="roundRect">
            <a:avLst>
              <a:gd name="adj" fmla="val 4680"/>
            </a:avLst>
          </a:prstGeom>
          <a:solidFill>
            <a:srgbClr val="282D5E"/>
          </a:solidFill>
          <a:ln/>
        </p:spPr>
      </p:sp>
      <p:sp>
        <p:nvSpPr>
          <p:cNvPr id="6" name="Shape 3"/>
          <p:cNvSpPr/>
          <p:nvPr/>
        </p:nvSpPr>
        <p:spPr>
          <a:xfrm>
            <a:off x="6172200" y="1489115"/>
            <a:ext cx="457200" cy="457200"/>
          </a:xfrm>
          <a:prstGeom prst="roundRect">
            <a:avLst>
              <a:gd name="adj" fmla="val 19998000"/>
            </a:avLst>
          </a:prstGeom>
          <a:solidFill>
            <a:srgbClr val="EEAE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7930" y="1614845"/>
            <a:ext cx="205740" cy="2057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72200" y="2048708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172200" y="2348270"/>
            <a:ext cx="777240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Placement Rate, Average Salary, and Total Placed Students — at-a-glance executive summary.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19800" y="2806898"/>
            <a:ext cx="8077200" cy="1571625"/>
          </a:xfrm>
          <a:prstGeom prst="roundRect">
            <a:avLst>
              <a:gd name="adj" fmla="val 4073"/>
            </a:avLst>
          </a:prstGeom>
          <a:solidFill>
            <a:srgbClr val="282D5E"/>
          </a:solidFill>
          <a:ln/>
        </p:spPr>
      </p:sp>
      <p:sp>
        <p:nvSpPr>
          <p:cNvPr id="11" name="Shape 7"/>
          <p:cNvSpPr/>
          <p:nvPr/>
        </p:nvSpPr>
        <p:spPr>
          <a:xfrm>
            <a:off x="6172200" y="2959298"/>
            <a:ext cx="457200" cy="457200"/>
          </a:xfrm>
          <a:prstGeom prst="roundRect">
            <a:avLst>
              <a:gd name="adj" fmla="val 19998000"/>
            </a:avLst>
          </a:prstGeom>
          <a:solidFill>
            <a:srgbClr val="EEAEF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7930" y="3085028"/>
            <a:ext cx="205740" cy="2057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3518892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Bar &amp; Donut Charts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172200" y="3818453"/>
            <a:ext cx="7772400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Placement by Programme, Industry, and Skill Score distribution; Donut charts for skill proficiency breakdowns.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019800" y="4480917"/>
            <a:ext cx="8077200" cy="1571625"/>
          </a:xfrm>
          <a:prstGeom prst="roundRect">
            <a:avLst>
              <a:gd name="adj" fmla="val 4073"/>
            </a:avLst>
          </a:prstGeom>
          <a:solidFill>
            <a:srgbClr val="282D5E"/>
          </a:solidFill>
          <a:ln/>
        </p:spPr>
      </p:sp>
      <p:sp>
        <p:nvSpPr>
          <p:cNvPr id="16" name="Shape 11"/>
          <p:cNvSpPr/>
          <p:nvPr/>
        </p:nvSpPr>
        <p:spPr>
          <a:xfrm>
            <a:off x="6172200" y="4633317"/>
            <a:ext cx="457200" cy="457200"/>
          </a:xfrm>
          <a:prstGeom prst="roundRect">
            <a:avLst>
              <a:gd name="adj" fmla="val 19998000"/>
            </a:avLst>
          </a:prstGeom>
          <a:solidFill>
            <a:srgbClr val="EEAEF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7930" y="4759047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72200" y="5192911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Dynamic Slicers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172200" y="5492472"/>
            <a:ext cx="7772400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by Year, Programme, Company, and Skill Category for fully interactive, context-driven exploration.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019800" y="6154936"/>
            <a:ext cx="8077200" cy="1367790"/>
          </a:xfrm>
          <a:prstGeom prst="roundRect">
            <a:avLst>
              <a:gd name="adj" fmla="val 4680"/>
            </a:avLst>
          </a:prstGeom>
          <a:solidFill>
            <a:srgbClr val="282D5E"/>
          </a:solidFill>
          <a:ln/>
        </p:spPr>
      </p:sp>
      <p:sp>
        <p:nvSpPr>
          <p:cNvPr id="21" name="Shape 15"/>
          <p:cNvSpPr/>
          <p:nvPr/>
        </p:nvSpPr>
        <p:spPr>
          <a:xfrm>
            <a:off x="6172200" y="6307336"/>
            <a:ext cx="457200" cy="457200"/>
          </a:xfrm>
          <a:prstGeom prst="roundRect">
            <a:avLst>
              <a:gd name="adj" fmla="val 19998000"/>
            </a:avLst>
          </a:prstGeom>
          <a:solidFill>
            <a:srgbClr val="EEAEF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7930" y="6433066"/>
            <a:ext cx="205740" cy="2057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72200" y="6866930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Matrix / Detail Table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172200" y="7166491"/>
            <a:ext cx="777240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Granular student-level placement status, offer details, and company information for in-depth review.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781526"/>
            <a:ext cx="74653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Publishing to Power BI Service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903" y="2270998"/>
            <a:ext cx="8338661" cy="381631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6504" y="3223829"/>
            <a:ext cx="536134" cy="5361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28841" y="5181055"/>
            <a:ext cx="1565513" cy="301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Share</a:t>
            </a:r>
            <a:endParaRPr lang="en-US" sz="18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3749" y="3224834"/>
            <a:ext cx="536135" cy="53613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155866" y="5030267"/>
            <a:ext cx="1565513" cy="60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Schedule Refresh</a:t>
            </a:r>
            <a:endParaRPr lang="en-US" sz="18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81496" y="3224834"/>
            <a:ext cx="536135" cy="53613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193614" y="5181055"/>
            <a:ext cx="1565513" cy="301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Publish</a:t>
            </a:r>
            <a:endParaRPr lang="en-US" sz="18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08521" y="3224834"/>
            <a:ext cx="536134" cy="53613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88471" y="5181055"/>
            <a:ext cx="1565513" cy="301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Save .pbix</a:t>
            </a:r>
            <a:endParaRPr lang="en-US" sz="1850" dirty="0"/>
          </a:p>
        </p:txBody>
      </p:sp>
      <p:sp>
        <p:nvSpPr>
          <p:cNvPr id="12" name="Text 5"/>
          <p:cNvSpPr/>
          <p:nvPr/>
        </p:nvSpPr>
        <p:spPr>
          <a:xfrm>
            <a:off x="694611" y="6282571"/>
            <a:ext cx="843724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end-to-end publishing pipeline ensures reports are always current, accessible, and securely shared with decision-makers.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9623584" y="1835587"/>
            <a:ext cx="417742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Benefits of Cloud Deployment</a:t>
            </a:r>
            <a:endParaRPr lang="en-US" sz="1950" dirty="0"/>
          </a:p>
        </p:txBody>
      </p:sp>
      <p:sp>
        <p:nvSpPr>
          <p:cNvPr id="14" name="Shape 7"/>
          <p:cNvSpPr/>
          <p:nvPr/>
        </p:nvSpPr>
        <p:spPr>
          <a:xfrm>
            <a:off x="9623584" y="2341007"/>
            <a:ext cx="4319707" cy="1521500"/>
          </a:xfrm>
          <a:prstGeom prst="roundRect">
            <a:avLst>
              <a:gd name="adj" fmla="val 5479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9844802" y="25622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Accessibility</a:t>
            </a:r>
            <a:endParaRPr lang="en-US" sz="1950" dirty="0"/>
          </a:p>
        </p:txBody>
      </p:sp>
      <p:sp>
        <p:nvSpPr>
          <p:cNvPr id="16" name="Text 9"/>
          <p:cNvSpPr/>
          <p:nvPr/>
        </p:nvSpPr>
        <p:spPr>
          <a:xfrm>
            <a:off x="9844802" y="3045976"/>
            <a:ext cx="387727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 reports on any device, anywhere, via browser or mobile app.</a:t>
            </a:r>
            <a:endParaRPr lang="en-US" sz="1550" dirty="0"/>
          </a:p>
        </p:txBody>
      </p:sp>
      <p:sp>
        <p:nvSpPr>
          <p:cNvPr id="17" name="Shape 10"/>
          <p:cNvSpPr/>
          <p:nvPr/>
        </p:nvSpPr>
        <p:spPr>
          <a:xfrm>
            <a:off x="9623584" y="4036100"/>
            <a:ext cx="4319707" cy="1521500"/>
          </a:xfrm>
          <a:prstGeom prst="roundRect">
            <a:avLst>
              <a:gd name="adj" fmla="val 5479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9844802" y="42573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Collaboration</a:t>
            </a:r>
            <a:endParaRPr lang="en-US" sz="1950" dirty="0"/>
          </a:p>
        </p:txBody>
      </p:sp>
      <p:sp>
        <p:nvSpPr>
          <p:cNvPr id="19" name="Text 12"/>
          <p:cNvSpPr/>
          <p:nvPr/>
        </p:nvSpPr>
        <p:spPr>
          <a:xfrm>
            <a:off x="9844802" y="4741069"/>
            <a:ext cx="387727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workspaces enable joint editing, comments, and version control.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9623584" y="5731193"/>
            <a:ext cx="4319707" cy="1521500"/>
          </a:xfrm>
          <a:prstGeom prst="roundRect">
            <a:avLst>
              <a:gd name="adj" fmla="val 5479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9844802" y="59524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Real-Time Insights</a:t>
            </a:r>
            <a:endParaRPr lang="en-US" sz="1950" dirty="0"/>
          </a:p>
        </p:txBody>
      </p:sp>
      <p:sp>
        <p:nvSpPr>
          <p:cNvPr id="22" name="Text 15"/>
          <p:cNvSpPr/>
          <p:nvPr/>
        </p:nvSpPr>
        <p:spPr>
          <a:xfrm>
            <a:off x="9844802" y="6436162"/>
            <a:ext cx="387727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Scheduled refreshes keep placement data current for all stakeholders.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3297"/>
            <a:ext cx="122024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Mapping to Sustainable Development Goals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662238"/>
            <a:ext cx="6571417" cy="3954066"/>
          </a:xfrm>
          <a:prstGeom prst="roundRect">
            <a:avLst>
              <a:gd name="adj" fmla="val 4130"/>
            </a:avLst>
          </a:prstGeom>
          <a:solidFill>
            <a:srgbClr val="EEAEF6"/>
          </a:solidFill>
          <a:ln/>
        </p:spPr>
      </p:sp>
      <p:sp>
        <p:nvSpPr>
          <p:cNvPr id="4" name="Shape 2"/>
          <p:cNvSpPr/>
          <p:nvPr/>
        </p:nvSpPr>
        <p:spPr>
          <a:xfrm>
            <a:off x="857250" y="2917388"/>
            <a:ext cx="841058" cy="426244"/>
          </a:xfrm>
          <a:prstGeom prst="roundRect">
            <a:avLst>
              <a:gd name="adj" fmla="val 17880"/>
            </a:avLst>
          </a:prstGeom>
          <a:solidFill>
            <a:srgbClr val="F5D1FA"/>
          </a:solidFill>
          <a:ln/>
        </p:spPr>
      </p:sp>
      <p:sp>
        <p:nvSpPr>
          <p:cNvPr id="5" name="Text 3"/>
          <p:cNvSpPr/>
          <p:nvPr/>
        </p:nvSpPr>
        <p:spPr>
          <a:xfrm>
            <a:off x="993338" y="2985373"/>
            <a:ext cx="56888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SDG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7250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Quality Education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4015502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4.4: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Increase youth with relevant technical and vocational skills for employment and entrepreneurship.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5308283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dashboard identifies skill gaps and informs curriculum design, ensuring academic programmes remain aligned with evolving industry needs.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2917388"/>
            <a:ext cx="85213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EEAE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3230" y="2992993"/>
            <a:ext cx="5647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SDG 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99521" y="3449598"/>
            <a:ext cx="46484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Decent Work &amp; Economic Growth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9521" y="403074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8.5: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Achieve full and productive employment, including equal pay for young people and persons with disabilities by 2030.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32352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facilitating better, data-informed placements, the project directly contributes to increased employment opportunities and inclusive economic growth.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1602"/>
            <a:ext cx="71779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Technical Stack and Tools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54010"/>
            <a:ext cx="1341120" cy="1341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Source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69036"/>
            <a:ext cx="30480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/ CSV files (simulated academic dataset) representing student profiles, company records, and placement outcomes.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554010"/>
            <a:ext cx="1341120" cy="1341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Power Query (M)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466903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ETL transformations — cleaning, reshaping, and loading data into the Star Schema model efficiently.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2554010"/>
            <a:ext cx="1341120" cy="13411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DAX Measures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4669036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Analysis Expressions for Placement Rate, High Performers, Average Salary, and Conversion Rate KPIs.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2554010"/>
            <a:ext cx="1341120" cy="13411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17861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Power BI Desktop &amp; Service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023366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Authoring in Power BI Desktop; cloud deployment and stakeholder sharing via Power BI Service.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49724"/>
            <a:ext cx="707993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Conclusion and Future Work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73069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Takeaways</a:t>
            </a:r>
            <a:endParaRPr lang="en-US" sz="1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2717" y="2258794"/>
            <a:ext cx="303014" cy="3030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63385" y="2248733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dashboards unlock powerful storytelling capabilities for complex placement data.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717" y="3234630"/>
            <a:ext cx="303014" cy="3030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63385" y="3224570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robust Star Schema and well-defined DAX measures are the foundation of accuracy and performance.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717" y="4210467"/>
            <a:ext cx="303014" cy="3030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63385" y="4200406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Feature-engineered Skill Scores add measurable analytical depth to candidate evaluation.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7569279" y="1730693"/>
            <a:ext cx="276951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Future Enhancements</a:t>
            </a:r>
            <a:endParaRPr lang="en-US" sz="1950" dirty="0"/>
          </a:p>
        </p:txBody>
      </p:sp>
      <p:sp>
        <p:nvSpPr>
          <p:cNvPr id="11" name="Shape 6"/>
          <p:cNvSpPr/>
          <p:nvPr/>
        </p:nvSpPr>
        <p:spPr>
          <a:xfrm>
            <a:off x="7569279" y="2248733"/>
            <a:ext cx="3090862" cy="2131576"/>
          </a:xfrm>
          <a:prstGeom prst="roundRect">
            <a:avLst>
              <a:gd name="adj" fmla="val 3981"/>
            </a:avLst>
          </a:prstGeom>
          <a:solidFill>
            <a:srgbClr val="282D5E"/>
          </a:solidFill>
          <a:ln/>
        </p:spPr>
      </p:sp>
      <p:sp>
        <p:nvSpPr>
          <p:cNvPr id="12" name="Text 7"/>
          <p:cNvSpPr/>
          <p:nvPr/>
        </p:nvSpPr>
        <p:spPr>
          <a:xfrm>
            <a:off x="7771209" y="2450663"/>
            <a:ext cx="268700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Real-Time HR Integration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7771209" y="3261836"/>
            <a:ext cx="2687003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data feeds from HR and campus recruitment systems.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10840045" y="2248733"/>
            <a:ext cx="3090982" cy="2131576"/>
          </a:xfrm>
          <a:prstGeom prst="roundRect">
            <a:avLst>
              <a:gd name="adj" fmla="val 3981"/>
            </a:avLst>
          </a:prstGeom>
          <a:solidFill>
            <a:srgbClr val="282D5E"/>
          </a:solidFill>
          <a:ln/>
        </p:spPr>
      </p:sp>
      <p:sp>
        <p:nvSpPr>
          <p:cNvPr id="15" name="Text 10"/>
          <p:cNvSpPr/>
          <p:nvPr/>
        </p:nvSpPr>
        <p:spPr>
          <a:xfrm>
            <a:off x="11041975" y="245066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Predictive Analytics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11041975" y="2946202"/>
            <a:ext cx="2687122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 future placement trends using time-series and regression models.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569279" y="4560213"/>
            <a:ext cx="6361748" cy="1510427"/>
          </a:xfrm>
          <a:prstGeom prst="roundRect">
            <a:avLst>
              <a:gd name="adj" fmla="val 5617"/>
            </a:avLst>
          </a:prstGeom>
          <a:solidFill>
            <a:srgbClr val="282D5E"/>
          </a:solidFill>
          <a:ln/>
        </p:spPr>
      </p:sp>
      <p:sp>
        <p:nvSpPr>
          <p:cNvPr id="18" name="Text 13"/>
          <p:cNvSpPr/>
          <p:nvPr/>
        </p:nvSpPr>
        <p:spPr>
          <a:xfrm>
            <a:off x="7771209" y="4762143"/>
            <a:ext cx="29873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AI/ML Skill Gap Analysis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7771209" y="5257681"/>
            <a:ext cx="5957888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models for personalised career path recommendations.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706993" y="6475452"/>
            <a:ext cx="13216414" cy="1104305"/>
          </a:xfrm>
          <a:prstGeom prst="roundRect">
            <a:avLst>
              <a:gd name="adj" fmla="val 7683"/>
            </a:avLst>
          </a:prstGeom>
          <a:solidFill>
            <a:srgbClr val="183A1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23" y="6772156"/>
            <a:ext cx="252413" cy="2019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3266" y="6705838"/>
            <a:ext cx="12358211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demonstrates how engineering rigour and data storytelling together can drive meaningful academic and societal impact — aligned with both SDG 4 and SDG 8.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2026-04-21T16:27:55Z</dcterms:created>
  <dcterms:modified xsi:type="dcterms:W3CDTF">2026-04-21T16:27:55Z</dcterms:modified>
</cp:coreProperties>
</file>